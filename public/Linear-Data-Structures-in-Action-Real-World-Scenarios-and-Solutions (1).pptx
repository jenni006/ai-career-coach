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  <p:bold r:id="rId12"/>
      <p:italic r:id="rId13"/>
    </p:embeddedFont>
    <p:embeddedFont>
      <p:font typeface="Roboto Light" panose="02000000000000000000" pitchFamily="2" charset="0"/>
      <p:regular r:id="rId14"/>
      <p:italic r:id="rId15"/>
    </p:embeddedFont>
    <p:embeddedFont>
      <p:font typeface="Roboto Medium" panose="020000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ya CR" userId="176dc121548d23ab" providerId="LiveId" clId="{47CED29E-2E28-41BC-9BFC-67868B7CD70B}"/>
    <pc:docChg chg="custSel modSld">
      <pc:chgData name="Harya CR" userId="176dc121548d23ab" providerId="LiveId" clId="{47CED29E-2E28-41BC-9BFC-67868B7CD70B}" dt="2025-09-21T12:21:15.434" v="9" actId="207"/>
      <pc:docMkLst>
        <pc:docMk/>
      </pc:docMkLst>
      <pc:sldChg chg="delSp mod">
        <pc:chgData name="Harya CR" userId="176dc121548d23ab" providerId="LiveId" clId="{47CED29E-2E28-41BC-9BFC-67868B7CD70B}" dt="2025-09-21T12:20:25.282" v="2" actId="478"/>
        <pc:sldMkLst>
          <pc:docMk/>
          <pc:sldMk cId="0" sldId="260"/>
        </pc:sldMkLst>
        <pc:spChg chg="del">
          <ac:chgData name="Harya CR" userId="176dc121548d23ab" providerId="LiveId" clId="{47CED29E-2E28-41BC-9BFC-67868B7CD70B}" dt="2025-09-21T12:20:20.567" v="0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Harya CR" userId="176dc121548d23ab" providerId="LiveId" clId="{47CED29E-2E28-41BC-9BFC-67868B7CD70B}" dt="2025-09-21T12:20:23.126" v="1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Harya CR" userId="176dc121548d23ab" providerId="LiveId" clId="{47CED29E-2E28-41BC-9BFC-67868B7CD70B}" dt="2025-09-21T12:20:25.282" v="2" actId="478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Harya CR" userId="176dc121548d23ab" providerId="LiveId" clId="{47CED29E-2E28-41BC-9BFC-67868B7CD70B}" dt="2025-09-21T12:20:36.315" v="3" actId="207"/>
        <pc:sldMkLst>
          <pc:docMk/>
          <pc:sldMk cId="0" sldId="261"/>
        </pc:sldMkLst>
        <pc:spChg chg="mod">
          <ac:chgData name="Harya CR" userId="176dc121548d23ab" providerId="LiveId" clId="{47CED29E-2E28-41BC-9BFC-67868B7CD70B}" dt="2025-09-21T12:20:36.315" v="3" actId="207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Harya CR" userId="176dc121548d23ab" providerId="LiveId" clId="{47CED29E-2E28-41BC-9BFC-67868B7CD70B}" dt="2025-09-21T12:21:15.434" v="9" actId="207"/>
        <pc:sldMkLst>
          <pc:docMk/>
          <pc:sldMk cId="0" sldId="263"/>
        </pc:sldMkLst>
        <pc:spChg chg="mod">
          <ac:chgData name="Harya CR" userId="176dc121548d23ab" providerId="LiveId" clId="{47CED29E-2E28-41BC-9BFC-67868B7CD70B}" dt="2025-09-21T12:20:59.381" v="5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Harya CR" userId="176dc121548d23ab" providerId="LiveId" clId="{47CED29E-2E28-41BC-9BFC-67868B7CD70B}" dt="2025-09-21T12:21:02.470" v="6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Harya CR" userId="176dc121548d23ab" providerId="LiveId" clId="{47CED29E-2E28-41BC-9BFC-67868B7CD70B}" dt="2025-09-21T12:21:05.451" v="7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Harya CR" userId="176dc121548d23ab" providerId="LiveId" clId="{47CED29E-2E28-41BC-9BFC-67868B7CD70B}" dt="2025-09-21T12:21:10.958" v="8" actId="20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Harya CR" userId="176dc121548d23ab" providerId="LiveId" clId="{47CED29E-2E28-41BC-9BFC-67868B7CD70B}" dt="2025-09-21T12:21:15.434" v="9" actId="207"/>
          <ac:spMkLst>
            <pc:docMk/>
            <pc:sldMk cId="0" sldId="263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35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46488" y="3166945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Linear Data Structures in Action: Real-World Scenarios and Solutions</a:t>
            </a:r>
            <a:endParaRPr lang="en-US" sz="3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EAB1F-22C9-1B85-3242-40063C6F2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6439539" cy="4013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1BC1B5-AAC3-491E-5571-1E753686DF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62" r="6527"/>
          <a:stretch>
            <a:fillRect/>
          </a:stretch>
        </p:blipFill>
        <p:spPr>
          <a:xfrm>
            <a:off x="0" y="4003287"/>
            <a:ext cx="6432351" cy="42263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FBB1EA-E4A3-FD1C-C0F5-1DAF119D1E4B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1077"/>
            <a:ext cx="90710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Building Blocks of Data Organization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67990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085743"/>
            <a:ext cx="26867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Sequential Arrangement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514963"/>
            <a:ext cx="343804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data structures organize elements in a specific order where each element connects to its neighbors, creating predictable patterns for data access and manipulation.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968127" y="3085743"/>
            <a:ext cx="28208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Foundation of Computing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3514963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structures form the backbone of countless applications, from simple contact lists to complex operating system processes, making them essential for every programmer.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302" y="2967990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30857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Journey Today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3514963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We'll explore Arrays for fast access, Linked Lists for flexibility, Stacks for order reversal, and Queues for fair processing - each solving unique real-world challenges.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64344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these fundamental structures empowers developers to choose the right tool for specific problems, directly impacting application performance and user experience.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D1806E-CE26-0126-4E28-37EC1826F91E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0817"/>
            <a:ext cx="97640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Array: Fast Access &amp; Organized Storage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6909"/>
            <a:ext cx="421933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Solution for Fixed, Indexed Data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507337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Arrays store elements in contiguous memory locations, enabling lightning-fast access through numerical indices. Think of them as numbered parking spaces where each spot has a specific address.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658314"/>
            <a:ext cx="35216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Strength: O(1) Access Time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166830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index-based access means retrieving any element takes the same amount of time, regardless of array size.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0002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Perfect for: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5508784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lists requiring quick jumps to specific entries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895737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processing with pixel matrices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282690"/>
            <a:ext cx="7632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 leaderboards with fixed rankings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864" y="2352979"/>
            <a:ext cx="6824091" cy="4439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1E5404D-A83E-5A0B-62AD-E55DCDD97098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93790" y="66889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Linked List: Dynamic and Flexible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793790" y="22067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93790" y="26659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Node Structure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93790" y="3095149"/>
            <a:ext cx="36790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node contains data and a pointer to the next node, creating a chain of connected elements that can grow or shrink dynamically.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671179" y="22067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71179" y="26659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Dynamic Sizing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4671179" y="3095149"/>
            <a:ext cx="36790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arrays, linked lists can expand or contract during runtime, making them perfect for scenarios where data size is unpredictable.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93790" y="471249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93790" y="5171718"/>
            <a:ext cx="26605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Real-World Applications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793790" y="560093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Music playlists use linked lists to enable seamless navigation between songs, while browser history chains together visited URLs for easy back-and-forth navigation.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793790" y="660808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flexibility of linked lists makes them ideal for photo viewers, where users swipe through albums, and any application requiring frequent insertions or deletions without performance penalties.</a:t>
            </a:r>
            <a:endParaRPr lang="en-US" sz="1550" dirty="0"/>
          </a:p>
        </p:txBody>
      </p:sp>
      <p:pic>
        <p:nvPicPr>
          <p:cNvPr id="1026" name="Picture 2" descr="Linked Lists | Skilled.dev">
            <a:extLst>
              <a:ext uri="{FF2B5EF4-FFF2-40B4-BE49-F238E27FC236}">
                <a16:creationId xmlns:a16="http://schemas.microsoft.com/office/drawing/2014/main" id="{16B0C063-667D-7C68-F9AA-D2BD8EF62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299" y="2511118"/>
            <a:ext cx="6364101" cy="212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ked list with real time examples ...">
            <a:extLst>
              <a:ext uri="{FF2B5EF4-FFF2-40B4-BE49-F238E27FC236}">
                <a16:creationId xmlns:a16="http://schemas.microsoft.com/office/drawing/2014/main" id="{1A74F1F2-6412-75AC-E068-ED5D045FB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171" y="4635248"/>
            <a:ext cx="6418485" cy="359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776" y="470059"/>
            <a:ext cx="6620470" cy="534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Stack: Last-In, First-Out (LIFO)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52917" y="4002800"/>
            <a:ext cx="5054918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i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a stack of plates - you can only add or remove from the top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163270" y="1431488"/>
            <a:ext cx="5709523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Solution for Reversing Order &amp; State Management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163270" y="1922859"/>
            <a:ext cx="7790855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Stacks operate on the Last-In, First-Out principle, where the most recently added element is the first to be removed. This creates a natural reversal mechanism.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63270" y="2640687"/>
            <a:ext cx="2136934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Essential Operations:</a:t>
            </a:r>
            <a:endParaRPr lang="en-US" sz="16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163270" y="3078599"/>
            <a:ext cx="779085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element to the top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63270" y="3411855"/>
            <a:ext cx="779085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Remove element from the top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63270" y="3745111"/>
            <a:ext cx="779085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Peek:</a:t>
            </a: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View top element without removing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2917" y="4979193"/>
            <a:ext cx="4306967" cy="1820466"/>
          </a:xfrm>
          <a:prstGeom prst="roundRect">
            <a:avLst>
              <a:gd name="adj" fmla="val 39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1737933" y="5105902"/>
            <a:ext cx="2136934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Undo/Redo Systems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913009" y="5499667"/>
            <a:ext cx="3950018" cy="109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action gets pushed onto the stack. Pressing "Undo" pops the last action, enabling seamless reversal of operations in text editors and design software.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43215" y="4979193"/>
            <a:ext cx="4307086" cy="1820466"/>
          </a:xfrm>
          <a:prstGeom prst="roundRect">
            <a:avLst>
              <a:gd name="adj" fmla="val 39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0803" y="5105901"/>
            <a:ext cx="2561868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Function Call Management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340131" y="5530134"/>
            <a:ext cx="3950137" cy="82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languages use stacks to track function calls, ensuring proper return flow and local variable management in nested function scenarios.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930489" y="4986125"/>
            <a:ext cx="4307086" cy="1820466"/>
          </a:xfrm>
          <a:prstGeom prst="roundRect">
            <a:avLst>
              <a:gd name="adj" fmla="val 3944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5"/>
          <p:cNvSpPr/>
          <p:nvPr/>
        </p:nvSpPr>
        <p:spPr>
          <a:xfrm>
            <a:off x="11015565" y="5105900"/>
            <a:ext cx="2136934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Syntax Validation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0058697" y="5508606"/>
            <a:ext cx="3950137" cy="82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Compilers use stacks to check balanced parentheses, brackets, and braces, ensuring code syntax correctness before execution.</a:t>
            </a:r>
            <a:endParaRPr lang="en-US" sz="1300" dirty="0"/>
          </a:p>
        </p:txBody>
      </p:sp>
      <p:pic>
        <p:nvPicPr>
          <p:cNvPr id="2052" name="Picture 4" descr="Stack Of Plates Images – Browse 872,489 ...">
            <a:extLst>
              <a:ext uri="{FF2B5EF4-FFF2-40B4-BE49-F238E27FC236}">
                <a16:creationId xmlns:a16="http://schemas.microsoft.com/office/drawing/2014/main" id="{159CFFBA-5BAA-CDA9-2A55-04744CBA2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174" y="1530721"/>
            <a:ext cx="3656122" cy="243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BA611F3-626C-B825-BF59-CC44B805B0B8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3152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034" y="451009"/>
            <a:ext cx="6532602" cy="512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Queue: First-In, First-Out (FIFO)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02018" y="1393984"/>
            <a:ext cx="7585948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"Fairness in processing: whoever arrives first gets served first"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56034" y="1209556"/>
            <a:ext cx="22860" cy="63126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7" name="Text 3"/>
          <p:cNvSpPr/>
          <p:nvPr/>
        </p:nvSpPr>
        <p:spPr>
          <a:xfrm>
            <a:off x="1640086" y="2189202"/>
            <a:ext cx="20502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Enqueue (Add)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640086" y="2543770"/>
            <a:ext cx="6847880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elements join at the rear of the queue, maintaining arrival order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662388" y="3173254"/>
            <a:ext cx="20502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Processing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640086" y="3527822"/>
            <a:ext cx="6847880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Elements wait in line, maintaining their position until it's their turn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640086" y="4157305"/>
            <a:ext cx="20502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Dequeue (Remove)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640086" y="4511873"/>
            <a:ext cx="6847880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Elements are removed from the front, ensuring first-come, first-served processing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56034" y="5325785"/>
            <a:ext cx="2050256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Applications: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656034" y="5745956"/>
            <a:ext cx="371594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Printer queues managing document order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656034" y="6065758"/>
            <a:ext cx="371594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service systems handling calls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56034" y="6385560"/>
            <a:ext cx="371594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system task scheduling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56034" y="6705362"/>
            <a:ext cx="371594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packet processing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3531"/>
            <a:ext cx="78306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Choosing the Right Tool for the Job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0044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when to use each data structure is crucial for building efficient applications. Each structure excels in specific scenarios based on its unique characteristics.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458766"/>
            <a:ext cx="13042821" cy="3187303"/>
          </a:xfrm>
          <a:prstGeom prst="roundRect">
            <a:avLst>
              <a:gd name="adj" fmla="val 26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46638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359306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Structure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60533" y="359306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17368" y="359306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to Use It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403729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419231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0533" y="416397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random access (O(1))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17368" y="416397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size is fixed and you need lightning-fast lookups by index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608195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999887" y="473487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List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60533" y="4734878"/>
            <a:ext cx="285249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size, efficient insertions/deletions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17368" y="473487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size is unknown and you frequently add/remove items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49663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562332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60533" y="562332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LIFO (Last-In, First-Out)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17368" y="5623322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"undo" features, backtracking, and managing nested operations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606754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6194227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260533" y="6194227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FIFO (First-In, First-Out)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7368" y="619422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managing requests in order, scheduling, and ensuring fairness</a:t>
            </a:r>
            <a:endParaRPr lang="en-US" sz="15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CBE7A8-E3B6-6B8E-CC6F-2409576D97DB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04371" y="3316184"/>
            <a:ext cx="4906536" cy="1177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B32DA-E6E0-DBA5-46C4-22E8FA587B40}"/>
              </a:ext>
            </a:extLst>
          </p:cNvPr>
          <p:cNvSpPr/>
          <p:nvPr/>
        </p:nvSpPr>
        <p:spPr>
          <a:xfrm>
            <a:off x="12645483" y="7382107"/>
            <a:ext cx="1895707" cy="758283"/>
          </a:xfrm>
          <a:prstGeom prst="rect">
            <a:avLst/>
          </a:prstGeom>
          <a:solidFill>
            <a:srgbClr val="0000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719</Words>
  <Application>Microsoft Office PowerPoint</Application>
  <PresentationFormat>Custom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Medium</vt:lpstr>
      <vt:lpstr>Roboto Light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Harya CR</cp:lastModifiedBy>
  <cp:revision>2</cp:revision>
  <dcterms:created xsi:type="dcterms:W3CDTF">2025-09-21T11:59:30Z</dcterms:created>
  <dcterms:modified xsi:type="dcterms:W3CDTF">2025-09-21T12:21:22Z</dcterms:modified>
</cp:coreProperties>
</file>